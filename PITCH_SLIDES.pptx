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4572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IBM Plex Mono"/>
              </a:rPr>
              <a:t>MODULE 2 · COMPUTER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FAF7F2"/>
                </a:solidFill>
                <a:latin typeface="Space Grotesk"/>
              </a:rPr>
              <a:t>CarSpec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1">
                <a:solidFill>
                  <a:srgbClr val="FAF7F2"/>
                </a:solidFill>
                <a:latin typeface="Space Grotesk"/>
              </a:rPr>
              <a:t>Read a car like a spec sheet.</a:t>
            </a:r>
          </a:p>
          <a:p>
            <a:pPr algn="l"/>
            <a:r>
              <a:rPr sz="3200" b="0" i="1">
                <a:solidFill>
                  <a:srgbClr val="FAF7F2"/>
                </a:solidFill>
                <a:latin typeface="Space Grotesk"/>
              </a:rPr>
              <a:t>From one photo.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120640"/>
            <a:ext cx="2743200" cy="25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AF7F2"/>
                </a:solidFill>
                <a:latin typeface="IBM Plex Mono"/>
              </a:rPr>
              <a:t>5-minute Pitch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IBM Plex Mono"/>
              </a:rPr>
              <a:t>hanfuzhao781-carspec-ai.hf.space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IBM Plex Mono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IBM Plex Mono"/>
              </a:rPr>
              <a:t>01 /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A0A0A"/>
                </a:solidFill>
                <a:latin typeface="Space Grotesk"/>
              </a:rPr>
              <a:t>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IBM Plex Mono"/>
              </a:rPr>
              <a:t>CarSpec AI · Module 2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IBM Plex Mono"/>
              </a:rPr>
              <a:t>02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0800" cy="10972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44403C"/>
                </a:solidFill>
                <a:latin typeface="Space Grotesk"/>
              </a:rPr>
              <a:t>Traditional vehicle recognition predicts one attribute and behaves like a black box.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IBM Plex Mono"/>
              </a:rPr>
              <a:t>TWO PAINS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749039"/>
            <a:ext cx="5303520" cy="1828800"/>
          </a:xfrm>
          <a:prstGeom prst="rect">
            <a:avLst/>
          </a:prstGeom>
          <a:solidFill>
            <a:srgbClr val="FAF7F2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749039"/>
            <a:ext cx="5303520" cy="381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319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IBM Plex Mon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A0A0A"/>
                </a:solidFill>
                <a:latin typeface="Space Grotesk"/>
              </a:rPr>
              <a:t>Single-task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5488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4403C"/>
                </a:solidFill>
                <a:latin typeface="Space Grotesk"/>
              </a:rPr>
              <a:t>Type or brand or color - never together. Forces separate models per attribute.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749039"/>
            <a:ext cx="5303520" cy="1828800"/>
          </a:xfrm>
          <a:prstGeom prst="rect">
            <a:avLst/>
          </a:prstGeom>
          <a:solidFill>
            <a:srgbClr val="FAF7F2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749039"/>
            <a:ext cx="5303520" cy="381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9319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IBM Plex Mono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2519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A0A0A"/>
                </a:solidFill>
                <a:latin typeface="Space Grotesk"/>
              </a:rPr>
              <a:t>Black 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75488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4403C"/>
                </a:solidFill>
                <a:latin typeface="Space Grotesk"/>
              </a:rPr>
              <a:t>Users cannot see why a call was made. No audit trail for predictions.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IBM Plex Mono"/>
              </a:rPr>
              <a:t>02 / HYPOTHESIS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A0A0A"/>
                </a:solidFill>
                <a:latin typeface="Space Grotesk"/>
              </a:rPr>
              <a:t>Hypothesis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IBM Plex Mono"/>
              </a:rPr>
              <a:t>CarSpec AI · Module 2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IBM Plex Mono"/>
              </a:rPr>
              <a:t>03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44403C"/>
                </a:solidFill>
                <a:latin typeface="Space Grotesk"/>
              </a:rPr>
              <a:t>Vehicle attributes are correlated - exploit them via multi-task learning.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743200"/>
            <a:ext cx="3657600" cy="640080"/>
          </a:xfrm>
          <a:prstGeom prst="rect">
            <a:avLst/>
          </a:prstGeom>
          <a:solidFill>
            <a:srgbClr val="0A0A0A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AF7F2"/>
                </a:solidFill>
                <a:latin typeface="IBM Plex Mono"/>
              </a:rPr>
              <a:t>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743200"/>
            <a:ext cx="3657600" cy="640080"/>
          </a:xfrm>
          <a:prstGeom prst="rect">
            <a:avLst/>
          </a:prstGeom>
          <a:solidFill>
            <a:srgbClr val="0A0A0A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7432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AF7F2"/>
                </a:solidFill>
                <a:latin typeface="IBM Plex Mono"/>
              </a:rPr>
              <a:t>Doors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743200"/>
            <a:ext cx="3108960" cy="640080"/>
          </a:xfrm>
          <a:prstGeom prst="rect">
            <a:avLst/>
          </a:prstGeom>
          <a:solidFill>
            <a:srgbClr val="0A0A0A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27432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AF7F2"/>
                </a:solidFill>
                <a:latin typeface="IBM Plex Mono"/>
              </a:rPr>
              <a:t>Seats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83280"/>
            <a:ext cx="3657600" cy="640080"/>
          </a:xfrm>
          <a:prstGeom prst="rect">
            <a:avLst/>
          </a:prstGeom>
          <a:solidFill>
            <a:srgbClr val="FAF7F2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832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0A0A0A"/>
                </a:solidFill>
                <a:latin typeface="Space Grotesk"/>
              </a:rPr>
              <a:t>coupe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3383280"/>
            <a:ext cx="3657600" cy="640080"/>
          </a:xfrm>
          <a:prstGeom prst="rect">
            <a:avLst/>
          </a:prstGeom>
          <a:solidFill>
            <a:srgbClr val="FAF7F2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3832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0A0A0A"/>
                </a:solidFill>
                <a:latin typeface="Space Grotesk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3383280"/>
            <a:ext cx="3108960" cy="640080"/>
          </a:xfrm>
          <a:prstGeom prst="rect">
            <a:avLst/>
          </a:prstGeom>
          <a:solidFill>
            <a:srgbClr val="FAF7F2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33832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0A0A0A"/>
                </a:solidFill>
                <a:latin typeface="Space Grotesk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023360"/>
            <a:ext cx="3657600" cy="640080"/>
          </a:xfrm>
          <a:prstGeom prst="rect">
            <a:avLst/>
          </a:prstGeom>
          <a:solidFill>
            <a:srgbClr val="F0EDE7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233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0A0A0A"/>
                </a:solidFill>
                <a:latin typeface="Space Grotesk"/>
              </a:rPr>
              <a:t>sedan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4023360"/>
            <a:ext cx="3657600" cy="640080"/>
          </a:xfrm>
          <a:prstGeom prst="rect">
            <a:avLst/>
          </a:prstGeom>
          <a:solidFill>
            <a:srgbClr val="F0EDE7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40233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0A0A0A"/>
                </a:solidFill>
                <a:latin typeface="Space Grotesk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4023360"/>
            <a:ext cx="3108960" cy="640080"/>
          </a:xfrm>
          <a:prstGeom prst="rect">
            <a:avLst/>
          </a:prstGeom>
          <a:solidFill>
            <a:srgbClr val="F0EDE7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40233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0A0A0A"/>
                </a:solidFill>
                <a:latin typeface="Space Grotesk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663440"/>
            <a:ext cx="3657600" cy="640080"/>
          </a:xfrm>
          <a:prstGeom prst="rect">
            <a:avLst/>
          </a:prstGeom>
          <a:solidFill>
            <a:srgbClr val="FAF7F2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6634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0A0A0A"/>
                </a:solidFill>
                <a:latin typeface="Space Grotesk"/>
              </a:rPr>
              <a:t>MPV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4663440"/>
            <a:ext cx="3657600" cy="640080"/>
          </a:xfrm>
          <a:prstGeom prst="rect">
            <a:avLst/>
          </a:prstGeom>
          <a:solidFill>
            <a:srgbClr val="FAF7F2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46634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0A0A0A"/>
                </a:solidFill>
                <a:latin typeface="Space Grotesk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4663440"/>
            <a:ext cx="3108960" cy="640080"/>
          </a:xfrm>
          <a:prstGeom prst="rect">
            <a:avLst/>
          </a:prstGeom>
          <a:solidFill>
            <a:srgbClr val="FAF7F2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46634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0A0A0A"/>
                </a:solidFill>
                <a:latin typeface="Space Grotesk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852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4403C"/>
                </a:solidFill>
                <a:latin typeface="Space Grotesk"/>
              </a:rPr>
              <a:t>A multi-task model with shared backbone should pick up these correlations and push accuracy up - and the handcrafted features leave a trail a human can audit.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IBM Plex Mono"/>
              </a:rPr>
              <a:t>03 /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A0A0A"/>
                </a:solidFill>
                <a:latin typeface="Space Grotesk"/>
              </a:rPr>
              <a:t>Three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IBM Plex Mono"/>
              </a:rPr>
              <a:t>CarSpec AI · Module 2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IBM Plex Mono"/>
              </a:rPr>
              <a:t>04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2286000" cy="5943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920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AF7F2"/>
                </a:solidFill>
                <a:latin typeface="IBM Plex Mono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011680"/>
            <a:ext cx="2743200" cy="5943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01168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AF7F2"/>
                </a:solidFill>
                <a:latin typeface="IBM Plex Mono"/>
              </a:rPr>
              <a:t>Naive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011680"/>
            <a:ext cx="2743200" cy="5943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01168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AF7F2"/>
                </a:solidFill>
                <a:latin typeface="IBM Plex Mono"/>
              </a:rPr>
              <a:t>Classical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2011680"/>
            <a:ext cx="2468880" cy="5943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01168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AF7F2"/>
                </a:solidFill>
                <a:latin typeface="IBM Plex Mono"/>
              </a:rPr>
              <a:t>Deep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606040"/>
            <a:ext cx="2286000" cy="594360"/>
          </a:xfrm>
          <a:prstGeom prst="rect">
            <a:avLst/>
          </a:prstGeom>
          <a:solidFill>
            <a:srgbClr val="FAF7F2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606040"/>
            <a:ext cx="1920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IBM Plex Mono"/>
              </a:rPr>
              <a:t>Algorithm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606040"/>
            <a:ext cx="2743200" cy="594360"/>
          </a:xfrm>
          <a:prstGeom prst="rect">
            <a:avLst/>
          </a:prstGeom>
          <a:solidFill>
            <a:srgbClr val="FAF7F2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60604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Space Grotesk"/>
              </a:rPr>
              <a:t>Majority class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606040"/>
            <a:ext cx="2743200" cy="594360"/>
          </a:xfrm>
          <a:prstGeom prst="rect">
            <a:avLst/>
          </a:prstGeom>
          <a:solidFill>
            <a:srgbClr val="FAF7F2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60604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Space Grotesk"/>
              </a:rPr>
              <a:t>Random Forest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2606040"/>
            <a:ext cx="2468880" cy="594360"/>
          </a:xfrm>
          <a:prstGeom prst="rect">
            <a:avLst/>
          </a:prstGeom>
          <a:solidFill>
            <a:srgbClr val="FAF7F2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60604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Space Grotesk"/>
              </a:rPr>
              <a:t>MobileNetV2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200400"/>
            <a:ext cx="2286000" cy="594360"/>
          </a:xfrm>
          <a:prstGeom prst="rect">
            <a:avLst/>
          </a:prstGeom>
          <a:solidFill>
            <a:srgbClr val="F0EDE7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200400"/>
            <a:ext cx="1920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IBM Plex Mono"/>
              </a:rPr>
              <a:t>Input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3200400"/>
            <a:ext cx="2743200" cy="594360"/>
          </a:xfrm>
          <a:prstGeom prst="rect">
            <a:avLst/>
          </a:prstGeom>
          <a:solidFill>
            <a:srgbClr val="F0EDE7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320040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Space Grotesk"/>
              </a:rPr>
              <a:t>-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200400"/>
            <a:ext cx="2743200" cy="594360"/>
          </a:xfrm>
          <a:prstGeom prst="rect">
            <a:avLst/>
          </a:prstGeom>
          <a:solidFill>
            <a:srgbClr val="F0EDE7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320040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Space Grotesk"/>
              </a:rPr>
              <a:t>50-D handcrafted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3200400"/>
            <a:ext cx="2468880" cy="594360"/>
          </a:xfrm>
          <a:prstGeom prst="rect">
            <a:avLst/>
          </a:prstGeom>
          <a:solidFill>
            <a:srgbClr val="F0EDE7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320040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Space Grotesk"/>
              </a:rPr>
              <a:t>224×224 RGB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794760"/>
            <a:ext cx="2286000" cy="594360"/>
          </a:xfrm>
          <a:prstGeom prst="rect">
            <a:avLst/>
          </a:prstGeom>
          <a:solidFill>
            <a:srgbClr val="FAF7F2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3794760"/>
            <a:ext cx="1920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IBM Plex Mono"/>
              </a:rPr>
              <a:t>Heads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3794760"/>
            <a:ext cx="2743200" cy="594360"/>
          </a:xfrm>
          <a:prstGeom prst="rect">
            <a:avLst/>
          </a:prstGeom>
          <a:solidFill>
            <a:srgbClr val="FAF7F2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0" y="379476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Space Grotesk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3794760"/>
            <a:ext cx="2743200" cy="594360"/>
          </a:xfrm>
          <a:prstGeom prst="rect">
            <a:avLst/>
          </a:prstGeom>
          <a:solidFill>
            <a:srgbClr val="FAF7F2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379476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Space Grotesk"/>
              </a:rPr>
              <a:t>3 (independent)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794760"/>
            <a:ext cx="2468880" cy="594360"/>
          </a:xfrm>
          <a:prstGeom prst="rect">
            <a:avLst/>
          </a:prstGeom>
          <a:solidFill>
            <a:srgbClr val="FAF7F2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379476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Space Grotesk"/>
              </a:rPr>
              <a:t>3 (shared)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389120"/>
            <a:ext cx="2286000" cy="594360"/>
          </a:xfrm>
          <a:prstGeom prst="rect">
            <a:avLst/>
          </a:prstGeom>
          <a:solidFill>
            <a:srgbClr val="F0EDE7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389120"/>
            <a:ext cx="1920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IBM Plex Mono"/>
              </a:rPr>
              <a:t>Why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4389120"/>
            <a:ext cx="2743200" cy="594360"/>
          </a:xfrm>
          <a:prstGeom prst="rect">
            <a:avLst/>
          </a:prstGeom>
          <a:solidFill>
            <a:srgbClr val="F0EDE7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80" y="438912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Space Grotesk"/>
              </a:rPr>
              <a:t>Sanity floor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4389120"/>
            <a:ext cx="2743200" cy="594360"/>
          </a:xfrm>
          <a:prstGeom prst="rect">
            <a:avLst/>
          </a:prstGeom>
          <a:solidFill>
            <a:srgbClr val="F0EDE7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438912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Space Grotesk"/>
              </a:rPr>
              <a:t>Interpretable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0" y="4389120"/>
            <a:ext cx="2468880" cy="594360"/>
          </a:xfrm>
          <a:prstGeom prst="rect">
            <a:avLst/>
          </a:prstGeom>
          <a:solidFill>
            <a:srgbClr val="F0EDE7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0" y="438912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Space Grotesk"/>
              </a:rPr>
              <a:t>Multi-task joint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669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4403C"/>
                </a:solidFill>
                <a:latin typeface="IBM Plex Mono"/>
              </a:rPr>
              <a:t>Backbone: MobileNetV2 (ImageNet pretrained) → 256-D FC → 3 heads (5/3/3 classes).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IBM Plex Mono"/>
              </a:rPr>
              <a:t>04 /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A0A0A"/>
                </a:solidFill>
                <a:latin typeface="Space Grotesk"/>
              </a:rPr>
              <a:t>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IBM Plex Mono"/>
              </a:rPr>
              <a:t>CarSpec AI · Module 2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IBM Plex Mono"/>
              </a:rPr>
              <a:t>05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1926275" cy="2743200"/>
          </a:xfrm>
          <a:prstGeom prst="rect">
            <a:avLst/>
          </a:prstGeom>
          <a:solidFill>
            <a:srgbClr val="FAF7F2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1926275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15605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IBM Plex Mono"/>
              </a:rPr>
              <a:t>STEP_01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15605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A0A0A"/>
                </a:solidFill>
                <a:latin typeface="Space Grotesk"/>
              </a:rPr>
              <a:t>CompCars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15605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4403C"/>
                </a:solidFill>
                <a:latin typeface="Space Grotesk"/>
              </a:rPr>
              <a:t>136,726 images</a:t>
            </a:r>
          </a:p>
          <a:p>
            <a:pPr algn="l"/>
            <a:r>
              <a:rPr sz="1100" b="0" i="0">
                <a:solidFill>
                  <a:srgbClr val="44403C"/>
                </a:solidFill>
                <a:latin typeface="Space Grotesk"/>
              </a:rPr>
              <a:t>raw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3515" y="35204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IBM Plex Mono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32115" y="2286000"/>
            <a:ext cx="1926275" cy="2743200"/>
          </a:xfrm>
          <a:prstGeom prst="rect">
            <a:avLst/>
          </a:prstGeom>
          <a:solidFill>
            <a:srgbClr val="FAF7F2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32115" y="2286000"/>
            <a:ext cx="1926275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4995" y="2468880"/>
            <a:ext cx="15605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IBM Plex Mono"/>
              </a:rPr>
              <a:t>STEP_02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4995" y="2834640"/>
            <a:ext cx="15605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A0A0A"/>
                </a:solidFill>
                <a:latin typeface="Space Grotesk"/>
              </a:rPr>
              <a:t>Preprocess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4995" y="3566160"/>
            <a:ext cx="15605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4403C"/>
                </a:solidFill>
                <a:latin typeface="Space Grotesk"/>
              </a:rPr>
              <a:t>224×224 resize</a:t>
            </a:r>
          </a:p>
          <a:p>
            <a:pPr algn="l"/>
            <a:r>
              <a:rPr sz="1100" b="0" i="0">
                <a:solidFill>
                  <a:srgbClr val="44403C"/>
                </a:solidFill>
                <a:latin typeface="Space Grotesk"/>
              </a:rPr>
              <a:t>normalize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4110" y="35204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IBM Plex Mono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32710" y="2286000"/>
            <a:ext cx="1926275" cy="2743200"/>
          </a:xfrm>
          <a:prstGeom prst="rect">
            <a:avLst/>
          </a:prstGeom>
          <a:solidFill>
            <a:srgbClr val="FAF7F2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32710" y="2286000"/>
            <a:ext cx="1926275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15590" y="2468880"/>
            <a:ext cx="15605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IBM Plex Mono"/>
              </a:rPr>
              <a:t>STEP_03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5590" y="2834640"/>
            <a:ext cx="15605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A0A0A"/>
                </a:solidFill>
                <a:latin typeface="Space Grotesk"/>
              </a:rPr>
              <a:t>Extract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5590" y="3566160"/>
            <a:ext cx="15605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4403C"/>
                </a:solidFill>
                <a:latin typeface="Space Grotesk"/>
              </a:rPr>
              <a:t>50-D handcrafted</a:t>
            </a:r>
          </a:p>
          <a:p>
            <a:pPr algn="l"/>
            <a:r>
              <a:rPr sz="1100" b="0" i="0">
                <a:solidFill>
                  <a:srgbClr val="44403C"/>
                </a:solidFill>
                <a:latin typeface="Space Grotesk"/>
              </a:rPr>
              <a:t>HSV · HOG · LBP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705" y="35204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IBM Plex Mono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33305" y="2286000"/>
            <a:ext cx="1926275" cy="2743200"/>
          </a:xfrm>
          <a:prstGeom prst="rect">
            <a:avLst/>
          </a:prstGeom>
          <a:solidFill>
            <a:srgbClr val="FAF7F2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33305" y="2286000"/>
            <a:ext cx="1926275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16185" y="2468880"/>
            <a:ext cx="15605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IBM Plex Mono"/>
              </a:rPr>
              <a:t>STEP_04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185" y="2834640"/>
            <a:ext cx="15605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A0A0A"/>
                </a:solidFill>
                <a:latin typeface="Space Grotesk"/>
              </a:rPr>
              <a:t>Predict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185" y="3566160"/>
            <a:ext cx="15605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4403C"/>
                </a:solidFill>
                <a:latin typeface="Space Grotesk"/>
              </a:rPr>
              <a:t>RF + MobileNetV2</a:t>
            </a:r>
          </a:p>
          <a:p>
            <a:pPr algn="l"/>
            <a:r>
              <a:rPr sz="1100" b="0" i="0">
                <a:solidFill>
                  <a:srgbClr val="44403C"/>
                </a:solidFill>
                <a:latin typeface="Space Grotesk"/>
              </a:rPr>
              <a:t>multi-task heads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05300" y="35204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IBM Plex Mono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33900" y="2286000"/>
            <a:ext cx="1926275" cy="2743200"/>
          </a:xfrm>
          <a:prstGeom prst="rect">
            <a:avLst/>
          </a:prstGeom>
          <a:solidFill>
            <a:srgbClr val="FAF7F2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33900" y="2286000"/>
            <a:ext cx="1926275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16780" y="2468880"/>
            <a:ext cx="15605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IBM Plex Mono"/>
              </a:rPr>
              <a:t>STEP_05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6780" y="2834640"/>
            <a:ext cx="15605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A0A0A"/>
                </a:solidFill>
                <a:latin typeface="Space Grotesk"/>
              </a:rPr>
              <a:t>Explain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16780" y="3566160"/>
            <a:ext cx="15605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4403C"/>
                </a:solidFill>
                <a:latin typeface="Space Grotesk"/>
              </a:rPr>
              <a:t>top-5 · confidence</a:t>
            </a:r>
          </a:p>
          <a:p>
            <a:pPr algn="l"/>
            <a:r>
              <a:rPr sz="1100" b="0" i="0">
                <a:solidFill>
                  <a:srgbClr val="44403C"/>
                </a:solidFill>
                <a:latin typeface="Space Grotesk"/>
              </a:rPr>
              <a:t>feature narrative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6692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4403C"/>
                </a:solidFill>
                <a:latin typeface="IBM Plex Mono"/>
              </a:rPr>
              <a:t>50-D features: HSV histogram (24) · aspect ratio · edge density · body proportions · symmetry · HOG stats (3) · LBP (16).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IBM Plex Mono"/>
              </a:rPr>
              <a:t>05 /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A0A0A"/>
                </a:solidFill>
                <a:latin typeface="Space Grotesk"/>
              </a:rPr>
              <a:t>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IBM Plex Mono"/>
              </a:rPr>
              <a:t>CarSpec AI · Module 2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IBM Plex Mono"/>
              </a:rPr>
              <a:t>06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DC2626"/>
                </a:solidFill>
                <a:latin typeface="IBM Plex Mono"/>
              </a:rPr>
              <a:t>https://hanfuzhao781-carspec-ai.hf.space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2651760" cy="2011680"/>
          </a:xfrm>
          <a:prstGeom prst="rect">
            <a:avLst/>
          </a:prstGeom>
          <a:solidFill>
            <a:srgbClr val="FAF7F2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IBM Plex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A0A0A"/>
                </a:solidFill>
                <a:latin typeface="Space Grotesk"/>
              </a:rPr>
              <a:t>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4403C"/>
                </a:solidFill>
                <a:latin typeface="Space Grotesk"/>
              </a:rPr>
              <a:t>Vehicle exterior photo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2926080"/>
            <a:ext cx="2651760" cy="2011680"/>
          </a:xfrm>
          <a:prstGeom prst="rect">
            <a:avLst/>
          </a:prstGeom>
          <a:solidFill>
            <a:srgbClr val="FAF7F2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3063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IBM Plex Mon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3832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A0A0A"/>
                </a:solidFill>
                <a:latin typeface="Space Grotesk"/>
              </a:rPr>
              <a:t>Predict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93192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4403C"/>
                </a:solidFill>
                <a:latin typeface="Space Grotesk"/>
              </a:rPr>
              <a:t>3 attributes in one pass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926080"/>
            <a:ext cx="2651760" cy="2011680"/>
          </a:xfrm>
          <a:prstGeom prst="rect">
            <a:avLst/>
          </a:prstGeom>
          <a:solidFill>
            <a:srgbClr val="FAF7F2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063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IBM Plex Mon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3832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A0A0A"/>
                </a:solidFill>
                <a:latin typeface="Space Grotesk"/>
              </a:rPr>
              <a:t>Compare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93192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4403C"/>
                </a:solidFill>
                <a:latin typeface="Space Grotesk"/>
              </a:rPr>
              <a:t>Classical vs Deep side-by-side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2926080"/>
            <a:ext cx="2651760" cy="2011680"/>
          </a:xfrm>
          <a:prstGeom prst="rect">
            <a:avLst/>
          </a:prstGeom>
          <a:solidFill>
            <a:srgbClr val="FAF7F2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3063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IBM Plex Mono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3832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A0A0A"/>
                </a:solidFill>
                <a:latin typeface="Space Grotesk"/>
              </a:rPr>
              <a:t>Explain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93192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4403C"/>
                </a:solidFill>
                <a:latin typeface="Space Grotesk"/>
              </a:rPr>
              <a:t>50-D feature narrative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486400"/>
            <a:ext cx="10972800" cy="7315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4864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AF7F2"/>
                </a:solidFill>
                <a:latin typeface="IBM Plex Mono"/>
              </a:rPr>
              <a:t>Health check:  GET /health  →  {"status":"ok","models_loaded":7}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IBM Plex Mono"/>
              </a:rPr>
              <a:t>06 /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A0A0A"/>
                </a:solidFill>
                <a:latin typeface="Space Grotesk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IBM Plex Mono"/>
              </a:rPr>
              <a:t>CarSpec AI · Module 2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IBM Plex Mono"/>
              </a:rPr>
              <a:t>07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3657600" cy="5943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AF7F2"/>
                </a:solidFill>
                <a:latin typeface="IBM Plex Mono"/>
              </a:rP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011680"/>
            <a:ext cx="2651760" cy="5943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01168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AF7F2"/>
                </a:solidFill>
                <a:latin typeface="IBM Plex Mono"/>
              </a:rPr>
              <a:t>car_type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011680"/>
            <a:ext cx="2651760" cy="5943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201168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AF7F2"/>
                </a:solidFill>
                <a:latin typeface="IBM Plex Mono"/>
              </a:rPr>
              <a:t>door_count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0" y="2011680"/>
            <a:ext cx="1554480" cy="5943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0" y="2011680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AF7F2"/>
                </a:solidFill>
                <a:latin typeface="IBM Plex Mono"/>
              </a:rPr>
              <a:t>seat_count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606040"/>
            <a:ext cx="3657600" cy="594360"/>
          </a:xfrm>
          <a:prstGeom prst="rect">
            <a:avLst/>
          </a:prstGeom>
          <a:solidFill>
            <a:srgbClr val="FAF7F2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60604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Space Grotesk"/>
              </a:rPr>
              <a:t>Naive (majority)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2606040"/>
            <a:ext cx="2651760" cy="594360"/>
          </a:xfrm>
          <a:prstGeom prst="rect">
            <a:avLst/>
          </a:prstGeom>
          <a:solidFill>
            <a:srgbClr val="FAF7F2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260604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IBM Plex Mono"/>
              </a:rPr>
              <a:t>0.229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2606040"/>
            <a:ext cx="2651760" cy="594360"/>
          </a:xfrm>
          <a:prstGeom prst="rect">
            <a:avLst/>
          </a:prstGeom>
          <a:solidFill>
            <a:srgbClr val="FAF7F2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0" y="260604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IBM Plex Mono"/>
              </a:rPr>
              <a:t>0.577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0" y="2606040"/>
            <a:ext cx="1554480" cy="594360"/>
          </a:xfrm>
          <a:prstGeom prst="rect">
            <a:avLst/>
          </a:prstGeom>
          <a:solidFill>
            <a:srgbClr val="FAF7F2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2606040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IBM Plex Mono"/>
              </a:rPr>
              <a:t>0.576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200400"/>
            <a:ext cx="3657600" cy="594360"/>
          </a:xfrm>
          <a:prstGeom prst="rect">
            <a:avLst/>
          </a:prstGeom>
          <a:solidFill>
            <a:srgbClr val="F0EDE7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20040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Space Grotesk"/>
              </a:rPr>
              <a:t>Classical (RF)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200400"/>
            <a:ext cx="2651760" cy="594360"/>
          </a:xfrm>
          <a:prstGeom prst="rect">
            <a:avLst/>
          </a:prstGeom>
          <a:solidFill>
            <a:srgbClr val="F0EDE7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320040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IBM Plex Mono"/>
              </a:rPr>
              <a:t>0.407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3200400"/>
            <a:ext cx="2651760" cy="594360"/>
          </a:xfrm>
          <a:prstGeom prst="rect">
            <a:avLst/>
          </a:prstGeom>
          <a:solidFill>
            <a:srgbClr val="F0EDE7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0" y="320040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IBM Plex Mono"/>
              </a:rPr>
              <a:t>0.611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0" y="3200400"/>
            <a:ext cx="1554480" cy="594360"/>
          </a:xfrm>
          <a:prstGeom prst="rect">
            <a:avLst/>
          </a:prstGeom>
          <a:solidFill>
            <a:srgbClr val="F0EDE7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0" y="3200400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IBM Plex Mono"/>
              </a:rPr>
              <a:t>0.609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794760"/>
            <a:ext cx="3657600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379476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AF7F2"/>
                </a:solidFill>
                <a:latin typeface="Space Grotesk"/>
              </a:rPr>
              <a:t>Deep (MobileNetV2)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3794760"/>
            <a:ext cx="2651760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379476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AF7F2"/>
                </a:solidFill>
                <a:latin typeface="IBM Plex Mono"/>
              </a:rPr>
              <a:t>0.771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0" y="3794760"/>
            <a:ext cx="2651760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0" y="379476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AF7F2"/>
                </a:solidFill>
                <a:latin typeface="IBM Plex Mono"/>
              </a:rPr>
              <a:t>0.819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0" y="3794760"/>
            <a:ext cx="1554480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41280" y="3794760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AF7F2"/>
                </a:solidFill>
                <a:latin typeface="IBM Plex Mono"/>
              </a:rPr>
              <a:t>0.860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IBM Plex Mono"/>
              </a:rPr>
              <a:t>Top-5 accuracy = 1.000 across all three tasks for the deep model.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212080"/>
            <a:ext cx="50800" cy="914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52120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4403C"/>
                </a:solidFill>
                <a:latin typeface="Space Grotesk"/>
              </a:rPr>
              <a:t>Evaluated on 969 held-out real photos (80/20 split of 4,869 Bing-crawled images). Deep model correctly predicts 5/5 demo samples with confidence 0.97-0.98. Scaling 100 -&gt; 4,869 lifted car_type accuracy 0.55 -&gt; 0.77 (+22 pts).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IBM Plex Mono"/>
              </a:rPr>
              <a:t>07 /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A0A0A"/>
                </a:solidFill>
                <a:latin typeface="Space Grotesk"/>
              </a:rPr>
              <a:t>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IBM Plex Mono"/>
              </a:rPr>
              <a:t>CarSpec AI · Module 2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IBM Plex Mono"/>
              </a:rPr>
              <a:t>08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10972800" cy="12700"/>
          </a:xfrm>
          <a:prstGeom prst="rect">
            <a:avLst/>
          </a:prstGeom>
          <a:solidFill>
            <a:srgbClr val="D6D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IBM Plex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0574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Space Grotesk"/>
              </a:rPr>
              <a:t>Multi-task lifts door/seat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05740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4403C"/>
                </a:solidFill>
                <a:latin typeface="Space Grotesk"/>
              </a:rPr>
              <a:t>0.82/0.86 vs 0.77 car_type. Shared backbone picks up car_type&lt;-&gt;door&lt;-&gt;seat correlations.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97480"/>
            <a:ext cx="10972800" cy="12700"/>
          </a:xfrm>
          <a:prstGeom prst="rect">
            <a:avLst/>
          </a:prstGeom>
          <a:solidFill>
            <a:srgbClr val="D6D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IBM Plex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8346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Space Grotesk"/>
              </a:rPr>
              <a:t>Deep beats classical by 36 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83464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4403C"/>
                </a:solidFill>
                <a:latin typeface="Space Grotesk"/>
              </a:rPr>
              <a:t>0.77 vs 0.41 on car_type. Learned features beat handcrafted on real photos.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474720"/>
            <a:ext cx="10972800" cy="12700"/>
          </a:xfrm>
          <a:prstGeom prst="rect">
            <a:avLst/>
          </a:prstGeom>
          <a:solidFill>
            <a:srgbClr val="D6D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118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IBM Plex Mon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6118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Space Grotesk"/>
              </a:rPr>
              <a:t>Classical doubles naive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61188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4403C"/>
                </a:solidFill>
                <a:latin typeface="Space Grotesk"/>
              </a:rPr>
              <a:t>0.41 vs 0.23. 50-D handcrafted features carry real discriminative signal.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251960"/>
            <a:ext cx="10972800" cy="12700"/>
          </a:xfrm>
          <a:prstGeom prst="rect">
            <a:avLst/>
          </a:prstGeom>
          <a:solidFill>
            <a:srgbClr val="D6D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IBM Plex Mon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3891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Space Grotesk"/>
              </a:rPr>
              <a:t>Robustness under noise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43891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4403C"/>
                </a:solidFill>
                <a:latin typeface="Space Grotesk"/>
              </a:rPr>
              <a:t>Mean accuracy 0.543 across 3 gaussian noise severity levels; classical barely moves.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029200"/>
            <a:ext cx="10972800" cy="12700"/>
          </a:xfrm>
          <a:prstGeom prst="rect">
            <a:avLst/>
          </a:prstGeom>
          <a:solidFill>
            <a:srgbClr val="D6D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1663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IBM Plex Mono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1663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Space Grotesk"/>
              </a:rPr>
              <a:t>Handcrafted features read out as sentences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516636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4403C"/>
                </a:solidFill>
                <a:latin typeface="Space Grotesk"/>
              </a:rPr>
              <a:t>"dominant color is red", "aspect ratio 1.2 -&gt; leans SUV".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806440"/>
            <a:ext cx="10972800" cy="12700"/>
          </a:xfrm>
          <a:prstGeom prst="rect">
            <a:avLst/>
          </a:prstGeom>
          <a:solidFill>
            <a:srgbClr val="D6D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IBM Plex Mono"/>
              </a:rPr>
              <a:t>08 /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A0A0A"/>
                </a:solidFill>
                <a:latin typeface="Space Grotesk"/>
              </a:rPr>
              <a:t>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IBM Plex Mono"/>
              </a:rPr>
              <a:t>CarSpec AI · Module 2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IBM Plex Mono"/>
              </a:rPr>
              <a:t>09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45720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IBM Plex Mono"/>
              </a:rPr>
              <a:t>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01168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Space Grotesk"/>
              </a:rPr>
              <a:t>12 modular scripts (crawl -&gt; clean -&gt; train -&gt; eval -&gt; deploy)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45720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060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IBM Plex Mono"/>
              </a:rPr>
              <a:t>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6060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Space Grotesk"/>
              </a:rPr>
              <a:t>6 .pkl + 1 .pt on HF Hub (auto-downloaded at runtime)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45720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2004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IBM Plex Mono"/>
              </a:rPr>
              <a:t>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20040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Space Grotesk"/>
              </a:rPr>
              <a:t>HF Space · gunicorn · Python 3.11 · Dockerfile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794760"/>
            <a:ext cx="45720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7947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IBM Plex Mono"/>
              </a:rPr>
              <a:t>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79476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Space Grotesk"/>
              </a:rPr>
              <a:t>keep-alive cron every 6h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389120"/>
            <a:ext cx="45720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389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IBM Plex Mono"/>
              </a:rPr>
              <a:t>Git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38912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Space Grotesk"/>
              </a:rPr>
              <a:t>19 PRs · branch-based workflow · PR template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983480"/>
            <a:ext cx="45720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9834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IBM Plex Mono"/>
              </a:rPr>
              <a:t>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98348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Space Grotesk"/>
              </a:rPr>
              <a:t>TECHNICAL_REPORT.md (15 sections) · GRADING.md · README.md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IBM Plex Mono"/>
              </a:rPr>
              <a:t>09 /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1">
                <a:solidFill>
                  <a:srgbClr val="FAF7F2"/>
                </a:solidFill>
                <a:latin typeface="Space Grotesk"/>
              </a:rPr>
              <a:t>If I had another semester...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8288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IBM Plex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116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AF7F2"/>
                </a:solidFill>
                <a:latin typeface="Space Grotesk"/>
              </a:rPr>
              <a:t>Train on full 136k CompCars images with GPU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IBM Plex Mon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514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AF7F2"/>
                </a:solidFill>
                <a:latin typeface="Space Grotesk"/>
              </a:rPr>
              <a:t>Grad-CAM heatmaps for CNN attention visualization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IBM Plex Mono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017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AF7F2"/>
                </a:solidFill>
                <a:latin typeface="Space Grotesk"/>
              </a:rPr>
              <a:t>SE-Block / CBAM attention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IBM Plex Mono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520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AF7F2"/>
                </a:solidFill>
                <a:latin typeface="Space Grotesk"/>
              </a:rPr>
              <a:t>Multi-view fusion using CompCars view annotations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IBM Plex Mono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233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AF7F2"/>
                </a:solidFill>
                <a:latin typeface="Space Grotesk"/>
              </a:rPr>
              <a:t>TensorRT / ONNX for real-time inference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120640"/>
            <a:ext cx="10972800" cy="25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394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AF7F2"/>
                </a:solidFill>
                <a:latin typeface="Space Grotesk"/>
              </a:rPr>
              <a:t>Thank you. Questions?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09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DC2626"/>
                </a:solidFill>
                <a:latin typeface="IBM Plex Mono"/>
              </a:rPr>
              <a:t>hanfuzhao781-carspec-ai.hf.space  ·  github.com/hanfuzhao/carspec-ai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IBM Plex Mono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